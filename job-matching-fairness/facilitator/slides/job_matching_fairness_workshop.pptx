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1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78240" y="-182880"/>
            <a:ext cx="3840480" cy="731520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326880" y="457200"/>
            <a:ext cx="2286000" cy="1920240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87000" y="2834640"/>
            <a:ext cx="1371600" cy="1371600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200" b="1">
                <a:solidFill>
                  <a:srgbClr val="9ADCD4"/>
                </a:solidFill>
                <a:latin typeface="Aptos"/>
              </a:defRPr>
            </a:pPr>
            <a:r>
              <a:t>HANDS-ON INVESTIGATION  |  2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749807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3200" b="1">
                <a:solidFill>
                  <a:srgbClr val="FFFFFF"/>
                </a:solidFill>
                <a:latin typeface="Aptos"/>
              </a:defRPr>
            </a:pPr>
            <a:r>
              <a:t>Job Matching,</a:t>
            </a:r>
          </a:p>
          <a:p>
            <a:pPr algn="l">
              <a:spcAft>
                <a:spcPts val="800"/>
              </a:spcAft>
              <a:defRPr sz="3200" b="1">
                <a:solidFill>
                  <a:srgbClr val="FFFFFF"/>
                </a:solidFill>
                <a:latin typeface="Aptos"/>
              </a:defRPr>
            </a:pPr>
            <a:r>
              <a:t>Historical Hiring Bias &amp; Fairlearn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7132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E1EBF2"/>
                </a:solidFill>
                <a:latin typeface="Aptos"/>
              </a:defRPr>
            </a:pPr>
            <a:r>
              <a:t>Three ranking methods. One recruitment workflow.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E1EBF2"/>
                </a:solidFill>
                <a:latin typeface="Aptos"/>
              </a:defRPr>
            </a:pPr>
            <a:r>
              <a:t>What can the evidence actually tell us?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7220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TF-IDF  •  BM25  •  LLM evidence scoring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LEARNING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A guided investigation, not a model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1993392"/>
            <a:ext cx="566928" cy="347472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Do the methods surface the same candidates?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87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44952" y="1993392"/>
            <a:ext cx="566928" cy="347472"/>
          </a:xfrm>
          <a:prstGeom prst="round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18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Perturb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4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Do parameter choices move the shortlist?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73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66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30952" y="1993392"/>
            <a:ext cx="566928" cy="347472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Investigate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do historical decisions encode?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59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52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16952" y="1993392"/>
            <a:ext cx="566928" cy="347472"/>
          </a:xfrm>
          <a:prstGeom prst="roundRect">
            <a:avLst/>
          </a:prstGeom>
          <a:solidFill>
            <a:srgbClr val="E2B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0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does Fairlearn show by group?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45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38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02952" y="1993392"/>
            <a:ext cx="566928" cy="347472"/>
          </a:xfrm>
          <a:prstGeom prst="roundRect">
            <a:avLst/>
          </a:prstGeom>
          <a:solidFill>
            <a:srgbClr val="1C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76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2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2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evidence is still missing?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800600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2100" b="1">
                <a:solidFill>
                  <a:srgbClr val="219187"/>
                </a:solidFill>
                <a:latin typeface="Aptos"/>
              </a:defRPr>
            </a:pPr>
            <a:r>
              <a:t>Pairs predict → run one controlled experiment → explain the result → name a limitation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5623560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77582"/>
                </a:solidFill>
                <a:latin typeface="Aptos"/>
              </a:defRPr>
            </a:pPr>
            <a:r>
              <a:t>Synthetic CVs and history. No conclusions about real applicants or employers.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THE SETTING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The decision is who gets another 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240280" cy="141732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37709E"/>
                </a:solidFill>
                <a:latin typeface="Aptos"/>
              </a:defRPr>
            </a:pPr>
            <a:r>
              <a:t>CV pool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Many applications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2608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20440" y="2011680"/>
            <a:ext cx="2240280" cy="141732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219187"/>
                </a:solidFill>
                <a:latin typeface="Aptos"/>
              </a:defRPr>
            </a:pPr>
            <a:r>
              <a:t>Ranking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Method + settings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72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2011680"/>
            <a:ext cx="2240280" cy="14173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DE715D"/>
                </a:solidFill>
                <a:latin typeface="Aptos"/>
              </a:defRPr>
            </a:pPr>
            <a:r>
              <a:t>Top-K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Who advances?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9536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89720" y="2011680"/>
            <a:ext cx="22402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Review / hire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Human decision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160520"/>
            <a:ext cx="5074920" cy="132588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60520"/>
            <a:ext cx="73152" cy="132588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3434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Exclude a suitable person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18888"/>
            <a:ext cx="466344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They may never receive review or a chance to demonstrate ability.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60520"/>
            <a:ext cx="5074920" cy="132588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160520"/>
            <a:ext cx="73152" cy="132588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3434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Advance a weak 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818888"/>
            <a:ext cx="466344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It can displace another applicant and consume reviewer time.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83387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A score is not a hiring decision, a qualification, or a forecast of job success.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Three algorithms ask different questions of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73152" cy="324612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TF-IDF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What terms are distinctive in this CV pool?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Cosine similarity compares weighted JD and CV vectors.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vocabulary, phrases, and pool composition.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737360"/>
            <a:ext cx="73152" cy="324612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BM25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How often do rare JD terms appear in this CV?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Term frequency saturates; document length is normalized.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repeated terms and CV length.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737360"/>
            <a:ext cx="73152" cy="324612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LLM evidence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What CV evidence supports a job-related rubric?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The project scorer validates cited text and weighted coverage.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model, prompt, rubric, and missing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440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C314B"/>
                </a:solidFill>
                <a:latin typeface="Aptos"/>
              </a:defRPr>
            </a:pPr>
            <a:r>
              <a:t>Scores are method-specific. Compare ranks, shortlist membership, and overlap—not raw score magnitudes.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BEFORE YOU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PAUSE  •  PREDICT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41732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69363"/>
            <a:ext cx="127101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WRITE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051560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Which method will surface the most relevant CVs?</a:t>
            </a:r>
          </a:p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Will the Top 5 be the same?</a:t>
            </a:r>
          </a:p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Could wording alone move a candidate?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469880" cy="73152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257800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37709E"/>
                </a:solidFill>
                <a:latin typeface="Aptos"/>
              </a:defRPr>
            </a:pPr>
            <a:r>
              <a:t>Do not look at the ranking table until your pair records a prediction.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NOTEBOOK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EXERCISE  •  Compare candidate rankings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291840" cy="182880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182880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1  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Read the job requirements.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Name two qualifications that matter.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783080"/>
            <a:ext cx="3291840" cy="182880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783080"/>
            <a:ext cx="73152" cy="182880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2 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Use the same JD and CV pool for all three methods.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783080"/>
            <a:ext cx="3291840" cy="182880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783080"/>
            <a:ext cx="73152" cy="182880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3  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Mark rank changes and shared Top-5 candidates.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196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1C314B"/>
                </a:solidFill>
                <a:latin typeface="Aptos"/>
              </a:defRPr>
            </a:pPr>
            <a:r>
              <a:t>Question: what evidence would tell you which ranking is more relevant?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74920"/>
            <a:ext cx="9326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677582"/>
                </a:solidFill>
                <a:latin typeface="Aptos"/>
              </a:defRPr>
            </a:pPr>
            <a:r>
              <a:t>LLM results are cached prior-project Top 5 output in offline mode; they are not live inference.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PAUSE  •  Choose one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32588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69363"/>
            <a:ext cx="117957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PREDICT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73152" cy="1874519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TF-IDF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Add bigrams? Limit features?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Which candidate moves?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377440"/>
            <a:ext cx="73152" cy="1874519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BM25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Raise k1? Change b?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What does length do?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2377440"/>
            <a:ext cx="73152" cy="1874519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Change one rubric weight or instruction.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What evidence changes?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Change one setting; keep the job and candidate pool fixed.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3 • SYNTHETIC JD-01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Replaying the past changes who advances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300" b="1">
                <a:solidFill>
                  <a:srgbClr val="1C314B"/>
                </a:solidFill>
                <a:latin typeface="Aptos"/>
              </a:defRPr>
            </a:pPr>
            <a:r>
              <a:t>50 fictional applicants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Score-only proxy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2468880"/>
            <a:ext cx="5669280" cy="347472"/>
          </a:xfrm>
          <a:prstGeom prst="rect">
            <a:avLst/>
          </a:prstGeom>
          <a:solidFill>
            <a:srgbClr val="E6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23160" y="2468880"/>
            <a:ext cx="5215737" cy="347472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4505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Male 5/19; Female 5/31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History-trained model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3657600"/>
            <a:ext cx="5669280" cy="347472"/>
          </a:xfrm>
          <a:prstGeom prst="rect">
            <a:avLst/>
          </a:prstGeom>
          <a:solidFill>
            <a:srgbClr val="E6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3160" y="3657600"/>
            <a:ext cx="1374800" cy="347472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6393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Male 10/19; Female 0/31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7492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Model trained on 13 jobs; JD-01 held out. Historical shortlist was 7/19 males and 3/31 females. Designed synthetic result, not real hiring evidence.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SELECTIVE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Shortlisting, hiring, and performance are different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3200" b="1">
                <a:solidFill>
                  <a:srgbClr val="37709E"/>
                </a:solidFill>
                <a:latin typeface="Aptos"/>
              </a:defRPr>
            </a:pPr>
            <a: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Applicants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2834640"/>
            <a:ext cx="64008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20439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99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3200" b="1">
                <a:solidFill>
                  <a:srgbClr val="21918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7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Shortlisted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23559" y="2834640"/>
            <a:ext cx="640081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3200" b="1">
                <a:solidFill>
                  <a:srgbClr val="DE715D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Hired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03920" y="2834640"/>
            <a:ext cx="64008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81159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19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3200" b="1">
                <a:solidFill>
                  <a:srgbClr val="E2B14B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59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Performance observed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160520"/>
            <a:ext cx="10241280" cy="9601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89120"/>
            <a:ext cx="97840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DE715D"/>
                </a:solidFill>
                <a:latin typeface="Aptos"/>
              </a:defRPr>
            </a:pPr>
            <a:r>
              <a:t>40 not shortlisted → no hiring decision   |   5 shortlisted, not hired   |   45 performance values 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486400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1C314B"/>
                </a:solidFill>
                <a:latin typeface="Aptos"/>
              </a:defRPr>
            </a:pPr>
            <a:r>
              <a:t>Missing is unknown. Never recode it as zero or “not hired.”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Fairlearn measures a question you define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429000" cy="214884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214884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Selection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Share of this applicant group selected at 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429000" cy="214884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73152" cy="214884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DP difference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Largest minus smallest group selection rate.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14884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783080"/>
            <a:ext cx="73152" cy="214884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DP ratio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Smallest divided by largest group rate.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8912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Show the group count. Calculate within one comparable job pool. A gap is a prompt to investigate—not a verdict.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77582"/>
                </a:solidFill>
                <a:latin typeface="Aptos"/>
              </a:defRPr>
            </a:pPr>
            <a:r>
              <a:t>Equalized odds needs defensible reference labels; these observed outcomes are selective and historical decisions may be biased.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FAIRLEARN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EXERCISE  •  Audit who reaches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83080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15084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64792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Set K = 5 for the three methods.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96312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528316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78024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Compare sex and location in the same JD pool.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209544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41548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91256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Read group counts beside selection rates.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922776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954780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904488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Change K for lexical methods; watch the metric move.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636008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668012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617720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Compare historical agreement separately from correctness.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577840"/>
            <a:ext cx="10149840" cy="5029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669280"/>
            <a:ext cx="9784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DE715D"/>
                </a:solidFill>
                <a:latin typeface="Aptos"/>
              </a:defRPr>
            </a:pPr>
            <a:r>
              <a:t>Cached LLM results contain Top 5 only; larger K needs a live full ranking.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DISCUSS  •  What does a disparity mean here?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801368"/>
            <a:ext cx="347472" cy="347472"/>
          </a:xfrm>
          <a:prstGeom prst="ellipse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783080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Which group difference needs follow-up?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551176"/>
            <a:ext cx="347472" cy="347472"/>
          </a:xfrm>
          <a:prstGeom prst="ellipse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Would a smaller DP gap mean better matching?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300984"/>
            <a:ext cx="347472" cy="347472"/>
          </a:xfrm>
          <a:prstGeom prst="ellipse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3282696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What did the old shortlist label actually measure?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050791"/>
            <a:ext cx="347472" cy="347472"/>
          </a:xfrm>
          <a:prstGeom prst="ellipse">
            <a:avLst/>
          </a:prstGeom>
          <a:solidFill>
            <a:srgbClr val="E2B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4032504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What evidence is missing for performance?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800599"/>
            <a:ext cx="347472" cy="347472"/>
          </a:xfrm>
          <a:prstGeom prst="ellipse">
            <a:avLst/>
          </a:prstGeom>
          <a:solidFill>
            <a:srgbClr val="1C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782312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Who owns the next review decision?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715000"/>
            <a:ext cx="9601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DE715D"/>
                </a:solidFill>
                <a:latin typeface="Aptos"/>
              </a:defRPr>
            </a:pPr>
            <a:r>
              <a:t>Agreement with history ≠ correctness. Selection parity ≠ universal fairness.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Choose the next step, not a universal winner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29000" cy="502920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Rank overlap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Parameter sensitivity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Group counts and rates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828800"/>
            <a:ext cx="3429000" cy="502920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Limit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No independent suitability labels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Selective performance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Cached LLM is Top 5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828800"/>
            <a:ext cx="3429000" cy="502920"/>
          </a:xfrm>
          <a:prstGeom prst="round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Next check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Blinded job-related review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Prospective outcome plan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Human accountability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66360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Recommend: advance • revise and re-evaluate • or do not advance. Support the choice with evidence and uncertainty.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Four ideas to carry into real evaluations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640080" cy="347472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150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37709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739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Rankings reflect algorithm and settings.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64008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7294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883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Past decisions can encode past opportunity.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611880"/>
            <a:ext cx="64008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6438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6027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Unobserved outcomes are not negative outcomes.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640080" cy="347472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5582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C314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5171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1">
                <a:solidFill>
                  <a:srgbClr val="1C314B"/>
                </a:solidFill>
                <a:latin typeface="Aptos"/>
              </a:defRPr>
            </a:pPr>
            <a:r>
              <a:t>Fairlearn measures differences; people interpret evidence and 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1500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219187"/>
                </a:solidFill>
                <a:latin typeface="Aptos"/>
              </a:defRPr>
            </a:pPr>
            <a:r>
              <a:t>What can you conclude? What remains unknown?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