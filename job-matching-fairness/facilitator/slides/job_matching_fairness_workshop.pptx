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240" y="-182880"/>
            <a:ext cx="3840480" cy="73152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326880" y="457200"/>
            <a:ext cx="2286000" cy="192024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2834640"/>
            <a:ext cx="1371600" cy="137160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200" b="1">
                <a:solidFill>
                  <a:srgbClr val="9ADCD4"/>
                </a:solidFill>
                <a:latin typeface="Aptos"/>
              </a:defRPr>
            </a:pPr>
            <a:r>
              <a:t>HANDS-ON INVESTIGATION  |  2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749807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Job Matching,</a:t>
            </a:r>
          </a:p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Historical Hiring Bias &amp; Fairlearn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7132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Three ranking methods. One recruitment workflow.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What can the evidence actually tell us?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7220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TF-IDF  •  BM25  •  LLM evidence scoring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LEARNING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A guided investigation, not a model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1993392"/>
            <a:ext cx="566928" cy="347472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the methods surface the same candidates?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87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44952" y="1993392"/>
            <a:ext cx="566928" cy="347472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8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Perturb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parameter choices move the shortlist?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30952" y="1993392"/>
            <a:ext cx="566928" cy="347472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Investigate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 historical decisions encode?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59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52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16952" y="1993392"/>
            <a:ext cx="566928" cy="347472"/>
          </a:xfrm>
          <a:prstGeom prst="roundRect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does Fairlearn show by group?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45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38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2952" y="1993392"/>
            <a:ext cx="566928" cy="347472"/>
          </a:xfrm>
          <a:prstGeom prst="roundRect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76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2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evidence is still missing?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0060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219187"/>
                </a:solidFill>
                <a:latin typeface="Aptos"/>
              </a:defRPr>
            </a:pPr>
            <a:r>
              <a:t>Pairs predict → run one controlled experiment → explain the result → name a limitation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623560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Synthetic CVs and history. No conclusions about real applicants or employers.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THE SETTING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The decision is who gets another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240280" cy="14173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37709E"/>
                </a:solidFill>
                <a:latin typeface="Aptos"/>
              </a:defRPr>
            </a:pPr>
            <a:r>
              <a:t>CV 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Many applications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40" y="2011680"/>
            <a:ext cx="2240280" cy="141732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219187"/>
                </a:solidFill>
                <a:latin typeface="Aptos"/>
              </a:defRPr>
            </a:pPr>
            <a:r>
              <a:t>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Method + settings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2011680"/>
            <a:ext cx="2240280" cy="14173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DE715D"/>
                </a:solidFill>
                <a:latin typeface="Aptos"/>
              </a:defRPr>
            </a:pPr>
            <a:r>
              <a:t>Top-K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Who advances?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9536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2011680"/>
            <a:ext cx="22402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Review /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Human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160520"/>
            <a:ext cx="5074920" cy="132588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60520"/>
            <a:ext cx="73152" cy="132588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Exclude a suitable person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They may never receive review or a chance to demonstrate 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60520"/>
            <a:ext cx="5074920" cy="132588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60520"/>
            <a:ext cx="73152" cy="132588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Advance a weak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It can displace another applicant and consume reviewer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83387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 score is not a hiring decision, a qualification, or a forecast of job success.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Three algorithms ask different questions of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73152" cy="324612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terms are distinctive in this CV pool?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Cosine similarity compares weighted JD and CV vectors.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vocabulary, phrases, and pool composition.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73152" cy="324612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How often do rare JD terms appear in this CV?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Term frequency saturates; document length is normalized.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repeated terms and CV length.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73152" cy="324612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 evidence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CV evidence supports a job-related rubric?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 project scorer validates cited text and weighted coverage.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model, prompt, rubric, and missing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40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C314B"/>
                </a:solidFill>
                <a:latin typeface="Aptos"/>
              </a:defRPr>
            </a:pPr>
            <a:r>
              <a:t>Scores are method-specific. Compare ranks, shortlist membership, and overlap—not raw score magnitudes.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BEFORE YOU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PREDICT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41732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2710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WRITE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51560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Which method will surface the most relevant CVs?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Will the Top 5 be the same?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Could wording alone move a candidate?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469880" cy="7315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5780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37709E"/>
                </a:solidFill>
                <a:latin typeface="Aptos"/>
              </a:defRPr>
            </a:pPr>
            <a:r>
              <a:t>Do not look at the ranking table until your pair records a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NOTEBOOK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Compare candidate rankings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291840" cy="182880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182880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1  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Read the job requirements.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Name two qualifications that matter.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83080"/>
            <a:ext cx="3291840" cy="182880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73152" cy="18288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2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Use the same JD and CV pool for all three methods.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783080"/>
            <a:ext cx="3291840" cy="182880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783080"/>
            <a:ext cx="73152" cy="182880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3  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Mark rank changes and shared Top-5 candidates.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Question: what evidence would tell you which ranking is more relevant?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677582"/>
                </a:solidFill>
                <a:latin typeface="Aptos"/>
              </a:defRPr>
            </a:pPr>
            <a:r>
              <a:t>LLM results are cached prior-project Top 5 output in offline mode; they are not live inference.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Choose one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3258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17957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PREDICT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73152" cy="1874519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Add bigrams? Limit features?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Which candidate moves?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377440"/>
            <a:ext cx="73152" cy="1874519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Raise k1? Change b?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What does length do?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377440"/>
            <a:ext cx="73152" cy="1874519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Change one rubric weight or instruction.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What evidence changes?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Change one setting; keep the job and candidate pool fixed.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3 • SYNTHETIC JD-01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A shortlist difference survives a qualification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300" b="1">
                <a:solidFill>
                  <a:srgbClr val="1C314B"/>
                </a:solidFill>
                <a:latin typeface="Aptos"/>
              </a:defRPr>
            </a:pPr>
            <a:r>
              <a:t>50 fictional applicants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2B3642"/>
                </a:solidFill>
                <a:latin typeface="Aptos"/>
              </a:defRPr>
            </a:pPr>
            <a:r>
              <a:t>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46888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23160" y="2468880"/>
            <a:ext cx="5215737" cy="347472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4505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37709E"/>
                </a:solidFill>
                <a:latin typeface="Aptos"/>
              </a:defRPr>
            </a:pPr>
            <a:r>
              <a:t>7 / 19 shortlisted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2B3642"/>
                </a:solidFill>
                <a:latin typeface="Aptos"/>
              </a:defRPr>
            </a:pPr>
            <a:r>
              <a:t>Women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65760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3657600"/>
            <a:ext cx="1374800" cy="347472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E715D"/>
                </a:solidFill>
                <a:latin typeface="Aptos"/>
              </a:defRPr>
            </a:pPr>
            <a:r>
              <a:t>3 / 31 shortlisted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677582"/>
                </a:solidFill>
                <a:latin typeface="Aptos"/>
              </a:defRPr>
            </a:pPr>
            <a:r>
              <a:t>The seeded history favors men and Addis Ababa applicants. This is a designed teaching shock—not a real-world finding.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SELECTIVE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Shortlisting, hiring, and performance are different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37709E"/>
                </a:solidFill>
                <a:latin typeface="Aptos"/>
              </a:defRPr>
            </a:pPr>
            <a: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Applicants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3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21918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Shortlisted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59" y="2834640"/>
            <a:ext cx="640081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DE715D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Hired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115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1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E2B14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Performance observed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160520"/>
            <a:ext cx="10241280" cy="9601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89120"/>
            <a:ext cx="9784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DE715D"/>
                </a:solidFill>
                <a:latin typeface="Aptos"/>
              </a:defRPr>
            </a:pPr>
            <a:r>
              <a:t>40 not shortlisted → no hiring decision   |   5 shortlisted, not hired   |   45 performance values 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486400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1C314B"/>
                </a:solidFill>
                <a:latin typeface="Aptos"/>
              </a:defRPr>
            </a:pPr>
            <a:r>
              <a:t>Missing is unknown. Never recode it as zero or “not hired.”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Fairlearn measures a question you define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429000" cy="214884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214884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Selection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Share of this applicant group selected at 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214884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73152" cy="214884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Largest minus smallest group selection 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14884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73152" cy="214884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Smallest divided by largest group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Show the group count. Calculate within one comparable job pool. A gap is a prompt to investigate—not a verdict.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Equalized odds needs defensible reference labels; these observed outcomes are selective and historical decisions may be biased.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FAIRLEARN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Audit who reaches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15084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64792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Set K = 5 for the three methods.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96312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528316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78024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sex and location in the same JD pool.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209544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41548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91256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Read group counts beside selection rates.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22776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954780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904488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Change K for lexical methods; watch the metric move.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636008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668012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617720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historical agreement separately from correctness.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77840"/>
            <a:ext cx="10149840" cy="5029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69280"/>
            <a:ext cx="9784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DE715D"/>
                </a:solidFill>
                <a:latin typeface="Aptos"/>
              </a:defRPr>
            </a:pPr>
            <a:r>
              <a:t>Cached LLM results contain Top 5 only; larger K needs a live full ranking.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DISCUSS  •  What does a disparity mean here?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801368"/>
            <a:ext cx="347472" cy="347472"/>
          </a:xfrm>
          <a:prstGeom prst="ellipse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Which group difference needs follow-up?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551176"/>
            <a:ext cx="347472" cy="347472"/>
          </a:xfrm>
          <a:prstGeom prst="ellipse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Would a smaller DP gap mean better matching?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00984"/>
            <a:ext cx="347472" cy="347472"/>
          </a:xfrm>
          <a:prstGeom prst="ellipse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3282696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did the old shortlist label actually measure?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050791"/>
            <a:ext cx="347472" cy="347472"/>
          </a:xfrm>
          <a:prstGeom prst="ellipse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4032504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evidence is missing for performance?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800599"/>
            <a:ext cx="347472" cy="347472"/>
          </a:xfrm>
          <a:prstGeom prst="ellipse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782312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Who owns the next review decision?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715000"/>
            <a:ext cx="9601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DE715D"/>
                </a:solidFill>
                <a:latin typeface="Aptos"/>
              </a:defRPr>
            </a:pPr>
            <a:r>
              <a:t>Agreement with history ≠ correctness. Selection parity ≠ universal fairness.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Choose the next step, not a universal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29000" cy="50292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Rank overlap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Parameter sensitivity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Group counts and 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828800"/>
            <a:ext cx="3429000" cy="50292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Limit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No independent suitability labels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Selective performance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Cached LLM is Top 5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828800"/>
            <a:ext cx="3429000" cy="502920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Next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Blinded job-related review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Prospective outcome plan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Human accountability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Recommend: advance • revise and re-evaluate • or do not advance. Support the choice with evidence and uncertainty.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Four ideas to carry into real evaluations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50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37709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739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Rankings reflect algorithm and settings.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6400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294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883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Past decisions can encode past opportunity.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11880"/>
            <a:ext cx="64008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438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6027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Unobserved outcomes are not negative outcomes.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582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C314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171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Fairlearn measures differences; people interpret evidence and 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1500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219187"/>
                </a:solidFill>
                <a:latin typeface="Aptos"/>
              </a:defRPr>
            </a:pPr>
            <a:r>
              <a:t>What can you conclude? What remains unknown?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