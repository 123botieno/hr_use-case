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1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-182880"/>
            <a:ext cx="3840480" cy="7315200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457200"/>
            <a:ext cx="2286000" cy="1920240"/>
          </a:xfrm>
          <a:prstGeom prst="roundRect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87000" y="2834640"/>
            <a:ext cx="1371600" cy="1371600"/>
          </a:xfrm>
          <a:prstGeom prst="roundRect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9ADCD4"/>
                </a:solidFill>
                <a:latin typeface="Aptos"/>
              </a:defRPr>
            </a:pPr>
            <a:r>
              <a:t>HANDS-ON INVESTIGATION  |  2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Job Matching,</a:t>
            </a:r>
          </a:p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Historical Hiring Bias &amp; Fairlearn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132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E1EBF2"/>
                </a:solidFill>
                <a:latin typeface="Aptos"/>
              </a:defRPr>
            </a:pPr>
            <a:r>
              <a:t>Three ranking methods. One recruitment workflow.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E1EBF2"/>
                </a:solidFill>
                <a:latin typeface="Aptos"/>
              </a:defRPr>
            </a:pPr>
            <a:r>
              <a:t>What can the evidence actually tell 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7220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TF-IDF  •  BM25  •  LLM evidence scoring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A guided investigation, not a model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99339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993392"/>
            <a:ext cx="566928" cy="347472"/>
          </a:xfrm>
          <a:prstGeom prst="roundRect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025396"/>
            <a:ext cx="42062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603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1C314B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06324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B3642"/>
                </a:solidFill>
                <a:latin typeface="Aptos"/>
              </a:defRPr>
            </a:pPr>
            <a:r>
              <a:t>Do the methods surface the same candidates?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87752" y="2971800"/>
            <a:ext cx="274320" cy="0"/>
          </a:xfrm>
          <a:prstGeom prst="line">
            <a:avLst/>
          </a:prstGeom>
          <a:ln w="25400">
            <a:solidFill>
              <a:srgbClr val="219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1828800"/>
            <a:ext cx="199339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4952" y="1993392"/>
            <a:ext cx="566928" cy="347472"/>
          </a:xfrm>
          <a:prstGeom prst="round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4" y="2025396"/>
            <a:ext cx="42062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5603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1C314B"/>
                </a:solidFill>
                <a:latin typeface="Aptos"/>
              </a:defRPr>
            </a:pPr>
            <a:r>
              <a:t>Perturb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306324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B3642"/>
                </a:solidFill>
                <a:latin typeface="Aptos"/>
              </a:defRPr>
            </a:pPr>
            <a:r>
              <a:t>Do parameter choices move the shortlist?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73752" y="2971800"/>
            <a:ext cx="274320" cy="0"/>
          </a:xfrm>
          <a:prstGeom prst="line">
            <a:avLst/>
          </a:prstGeom>
          <a:ln w="25400">
            <a:solidFill>
              <a:srgbClr val="219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66360" y="1828800"/>
            <a:ext cx="199339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30952" y="1993392"/>
            <a:ext cx="566928" cy="347472"/>
          </a:xfrm>
          <a:prstGeom prst="roundRect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4104" y="2025396"/>
            <a:ext cx="42062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5603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1C314B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306324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B3642"/>
                </a:solidFill>
                <a:latin typeface="Aptos"/>
              </a:defRPr>
            </a:pPr>
            <a:r>
              <a:t>What do historical decisions encode?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59752" y="2971800"/>
            <a:ext cx="274320" cy="0"/>
          </a:xfrm>
          <a:prstGeom prst="line">
            <a:avLst/>
          </a:prstGeom>
          <a:ln w="25400">
            <a:solidFill>
              <a:srgbClr val="219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52360" y="1828800"/>
            <a:ext cx="199339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16952" y="1993392"/>
            <a:ext cx="566928" cy="347472"/>
          </a:xfrm>
          <a:prstGeom prst="roundRect">
            <a:avLst/>
          </a:prstGeom>
          <a:solidFill>
            <a:srgbClr val="E2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2025396"/>
            <a:ext cx="42062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25603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1C314B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306324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B3642"/>
                </a:solidFill>
                <a:latin typeface="Aptos"/>
              </a:defRPr>
            </a:pPr>
            <a:r>
              <a:t>What does Fairlearn show by group?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45752" y="2971800"/>
            <a:ext cx="274320" cy="0"/>
          </a:xfrm>
          <a:prstGeom prst="line">
            <a:avLst/>
          </a:prstGeom>
          <a:ln w="25400">
            <a:solidFill>
              <a:srgbClr val="219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38360" y="1828800"/>
            <a:ext cx="199339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02952" y="1993392"/>
            <a:ext cx="566928" cy="347472"/>
          </a:xfrm>
          <a:prstGeom prst="roundRect">
            <a:avLst/>
          </a:prstGeom>
          <a:solidFill>
            <a:srgbClr val="1C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2025396"/>
            <a:ext cx="42062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25603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1C314B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306324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2B3642"/>
                </a:solidFill>
                <a:latin typeface="Aptos"/>
              </a:defRPr>
            </a:pPr>
            <a:r>
              <a:t>What evidence is still missing?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0060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219187"/>
                </a:solidFill>
                <a:latin typeface="Aptos"/>
              </a:defRPr>
            </a:pPr>
            <a:r>
              <a:t>Pairs predict → run one controlled experiment → explain the result → name a limitation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62356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677582"/>
                </a:solidFill>
                <a:latin typeface="Aptos"/>
              </a:defRPr>
            </a:pPr>
            <a:r>
              <a:t>Synthetic CVs and history. No conclusions about real applicants or employers.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THE SETTING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The decision is who gets another 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240280" cy="1417320"/>
          </a:xfrm>
          <a:prstGeom prst="roundRect">
            <a:avLst/>
          </a:prstGeom>
          <a:solidFill>
            <a:srgbClr val="E6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1965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37709E"/>
                </a:solidFill>
                <a:latin typeface="Aptos"/>
              </a:defRPr>
            </a:pPr>
            <a:r>
              <a:t>CV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2491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2B3642"/>
                </a:solidFill>
                <a:latin typeface="Aptos"/>
              </a:defRPr>
            </a:pPr>
            <a:r>
              <a:t>Many applications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743200"/>
            <a:ext cx="502920" cy="0"/>
          </a:xfrm>
          <a:prstGeom prst="line">
            <a:avLst/>
          </a:prstGeom>
          <a:ln w="25400">
            <a:solidFill>
              <a:srgbClr val="67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40" y="2011680"/>
            <a:ext cx="2240280" cy="1417320"/>
          </a:xfrm>
          <a:prstGeom prst="roundRect">
            <a:avLst/>
          </a:prstGeom>
          <a:solidFill>
            <a:srgbClr val="E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267712"/>
            <a:ext cx="1965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19187"/>
                </a:solidFill>
                <a:latin typeface="Aptos"/>
              </a:defRPr>
            </a:pPr>
            <a:r>
              <a:t>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2491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2B3642"/>
                </a:solidFill>
                <a:latin typeface="Aptos"/>
              </a:defRPr>
            </a:pPr>
            <a:r>
              <a:t>Method + settings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2743200"/>
            <a:ext cx="502920" cy="0"/>
          </a:xfrm>
          <a:prstGeom prst="line">
            <a:avLst/>
          </a:prstGeom>
          <a:ln w="25400">
            <a:solidFill>
              <a:srgbClr val="67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2011680"/>
            <a:ext cx="2240280" cy="1417320"/>
          </a:xfrm>
          <a:prstGeom prst="roundRect">
            <a:avLst/>
          </a:prstGeom>
          <a:solidFill>
            <a:srgbClr val="FA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67712"/>
            <a:ext cx="1965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DE715D"/>
                </a:solidFill>
                <a:latin typeface="Aptos"/>
              </a:defRPr>
            </a:pPr>
            <a:r>
              <a:t>Top-K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2491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2B3642"/>
                </a:solidFill>
                <a:latin typeface="Aptos"/>
              </a:defRPr>
            </a:pPr>
            <a:r>
              <a:t>Who advances?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0" y="2743200"/>
            <a:ext cx="502920" cy="0"/>
          </a:xfrm>
          <a:prstGeom prst="line">
            <a:avLst/>
          </a:prstGeom>
          <a:ln w="25400">
            <a:solidFill>
              <a:srgbClr val="67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9720" y="2011680"/>
            <a:ext cx="22402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267712"/>
            <a:ext cx="1965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Review / hire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724912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2B3642"/>
                </a:solidFill>
                <a:latin typeface="Aptos"/>
              </a:defRPr>
            </a:pPr>
            <a:r>
              <a:t>Human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160520"/>
            <a:ext cx="5074920" cy="1325880"/>
          </a:xfrm>
          <a:prstGeom prst="roundRect">
            <a:avLst/>
          </a:prstGeom>
          <a:solidFill>
            <a:srgbClr val="FA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60520"/>
            <a:ext cx="73152" cy="1325880"/>
          </a:xfrm>
          <a:prstGeom prst="rect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Exclude a suitable person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18888"/>
            <a:ext cx="466344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They may never receive review or a chance to demonstrate ability.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60520"/>
            <a:ext cx="5074920" cy="1325880"/>
          </a:xfrm>
          <a:prstGeom prst="roundRect">
            <a:avLst/>
          </a:prstGeom>
          <a:solidFill>
            <a:srgbClr val="E6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160520"/>
            <a:ext cx="73152" cy="1325880"/>
          </a:xfrm>
          <a:prstGeom prst="rect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343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Advance a weak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18888"/>
            <a:ext cx="466344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It can displace another applicant and consume reviewer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833872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C314B"/>
                </a:solidFill>
                <a:latin typeface="Aptos"/>
              </a:defRPr>
            </a:pPr>
            <a:r>
              <a:t>A score is not a hiring decision, a qualification, or a forecast of job 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PROBLEM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Three algorithms ask different questions of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204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73152" cy="3246120"/>
          </a:xfrm>
          <a:prstGeom prst="rect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3108960" cy="2441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What terms are distinctive in this CV pool?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Cosine similarity compares weighted JD and CV vectors.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Sensitive to vocabulary, phrases, and pool composition.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73152" cy="3246120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BM25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95728"/>
            <a:ext cx="3108960" cy="2441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How often do rare JD terms appear in this CV?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Term frequency saturates; document length is normalized.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Sensitive to repeated terms and CV length.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204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73152" cy="3246120"/>
          </a:xfrm>
          <a:prstGeom prst="rect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LLM evidence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95728"/>
            <a:ext cx="3108960" cy="2441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What CV evidence supports a job-related rubric?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The project scorer validates cited text and weighted coverage.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2B3642"/>
                </a:solidFill>
                <a:latin typeface="Aptos"/>
              </a:defRPr>
            </a:pPr>
            <a:r>
              <a:t>Sensitive to model, prompt, rubric, and missing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4406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C314B"/>
                </a:solidFill>
                <a:latin typeface="Aptos"/>
              </a:defRPr>
            </a:pPr>
            <a:r>
              <a:t>Scores are method-specific. Compare ranks, shortlist membership, and overlap—not raw score magnitudes.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BEFORE YOU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PAUSE  •  PREDICT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417320" cy="347472"/>
          </a:xfrm>
          <a:prstGeom prst="roundRect">
            <a:avLst/>
          </a:prstGeom>
          <a:solidFill>
            <a:srgbClr val="FA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69363"/>
            <a:ext cx="1271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DE715D"/>
                </a:solidFill>
                <a:latin typeface="Aptos"/>
              </a:defRPr>
            </a:pPr>
            <a:r>
              <a:t>WRITE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05156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1C314B"/>
                </a:solidFill>
                <a:latin typeface="Aptos"/>
              </a:defRPr>
            </a:pPr>
            <a:r>
              <a:t>Which method will surface the most relevant CVs?</a:t>
            </a:r>
          </a:p>
          <a:p>
            <a:pPr algn="l">
              <a:spcAft>
                <a:spcPts val="800"/>
              </a:spcAft>
              <a:defRPr sz="2500" b="1">
                <a:solidFill>
                  <a:srgbClr val="1C314B"/>
                </a:solidFill>
                <a:latin typeface="Aptos"/>
              </a:defRPr>
            </a:pPr>
            <a:r>
              <a:t>Will the Top 5 be the same?</a:t>
            </a:r>
          </a:p>
          <a:p>
            <a:pPr algn="l">
              <a:spcAft>
                <a:spcPts val="800"/>
              </a:spcAft>
              <a:defRPr sz="2500" b="1">
                <a:solidFill>
                  <a:srgbClr val="1C314B"/>
                </a:solidFill>
                <a:latin typeface="Aptos"/>
              </a:defRPr>
            </a:pPr>
            <a:r>
              <a:t>Could wording alone move a candidate?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74920"/>
            <a:ext cx="10469880" cy="731520"/>
          </a:xfrm>
          <a:prstGeom prst="roundRect">
            <a:avLst/>
          </a:prstGeom>
          <a:solidFill>
            <a:srgbClr val="E6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37709E"/>
                </a:solidFill>
                <a:latin typeface="Aptos"/>
              </a:defRPr>
            </a:pPr>
            <a:r>
              <a:t>Do not look at the ranking table until your pair records a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NOTEBOOK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EXERCISE  •  Compare candidate rankings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291840" cy="1828800"/>
          </a:xfrm>
          <a:prstGeom prst="roundRect">
            <a:avLst/>
          </a:prstGeom>
          <a:solidFill>
            <a:srgbClr val="E6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1828800"/>
          </a:xfrm>
          <a:prstGeom prst="rect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1  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41448"/>
            <a:ext cx="288036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Read the job requirements.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Name two qualifications that matter.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291840" cy="1828800"/>
          </a:xfrm>
          <a:prstGeom prst="roundRect">
            <a:avLst/>
          </a:prstGeom>
          <a:solidFill>
            <a:srgbClr val="E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73152" cy="1828800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2 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41448"/>
            <a:ext cx="288036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Use the same JD and CV pool for all three methods.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83080"/>
            <a:ext cx="3291840" cy="1828800"/>
          </a:xfrm>
          <a:prstGeom prst="roundRect">
            <a:avLst/>
          </a:prstGeom>
          <a:solidFill>
            <a:srgbClr val="FA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783080"/>
            <a:ext cx="73152" cy="1828800"/>
          </a:xfrm>
          <a:prstGeom prst="rect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96596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3  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41448"/>
            <a:ext cx="288036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Mark rank changes and shared Top-5 candidates.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C314B"/>
                </a:solidFill>
                <a:latin typeface="Aptos"/>
              </a:defRPr>
            </a:pPr>
            <a:r>
              <a:t>Question: what evidence would tell you which ranking is more relevant?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7492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677582"/>
                </a:solidFill>
                <a:latin typeface="Aptos"/>
              </a:defRPr>
            </a:pPr>
            <a:r>
              <a:t>LLM results are cached prior-project Top 5 output in offline mode; they are not live inference.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PROBLEM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PAUSE  •  Choose one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325880" cy="347472"/>
          </a:xfrm>
          <a:prstGeom prst="roundRect">
            <a:avLst/>
          </a:prstGeom>
          <a:solidFill>
            <a:srgbClr val="FA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69363"/>
            <a:ext cx="1179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DE715D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73152" cy="1874519"/>
          </a:xfrm>
          <a:prstGeom prst="rect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35808"/>
            <a:ext cx="297180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Add bigrams? Limit features?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Which candidate moves?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77440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377440"/>
            <a:ext cx="73152" cy="1874519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56032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BM25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35808"/>
            <a:ext cx="297180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Raise k1? Change b?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What does length do?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377440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377440"/>
            <a:ext cx="73152" cy="1874519"/>
          </a:xfrm>
          <a:prstGeom prst="rect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56032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035808"/>
            <a:ext cx="297180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Change one rubric weight or instruction.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What evidence changes?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C314B"/>
                </a:solidFill>
                <a:latin typeface="Aptos"/>
              </a:defRPr>
            </a:pPr>
            <a:r>
              <a:t>Change one setting; keep the job and candidate pool fixed.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PROBLEM 3 • SYNTHETIC JD-01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Historical shortlisting differs by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1C314B"/>
                </a:solidFill>
                <a:latin typeface="Aptos"/>
              </a:defRPr>
            </a:pPr>
            <a:r>
              <a:t>50 fictional applicants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Male applicants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2468880"/>
            <a:ext cx="5669280" cy="347472"/>
          </a:xfrm>
          <a:prstGeom prst="rect">
            <a:avLst/>
          </a:prstGeom>
          <a:solidFill>
            <a:srgbClr val="E6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3160" y="2468880"/>
            <a:ext cx="5215737" cy="347472"/>
          </a:xfrm>
          <a:prstGeom prst="rect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4505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 / 19 shortlisted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Female applicants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657600"/>
            <a:ext cx="5669280" cy="347472"/>
          </a:xfrm>
          <a:prstGeom prst="rect">
            <a:avLst/>
          </a:prstGeom>
          <a:solidFill>
            <a:srgbClr val="E6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3657600"/>
            <a:ext cx="1374800" cy="347472"/>
          </a:xfrm>
          <a:prstGeom prst="rect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6393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3 / 31 shortlisted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The group effects are deliberately simulated. These counts describe this teaching dataset, not real hiring.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LABEL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Shortlisting, hiring, and performance are different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2103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1828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92608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C314B"/>
                </a:solidFill>
                <a:latin typeface="Aptos"/>
              </a:defRPr>
            </a:pPr>
            <a:r>
              <a:t>Applicants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834640"/>
            <a:ext cx="640080" cy="0"/>
          </a:xfrm>
          <a:prstGeom prst="line">
            <a:avLst/>
          </a:prstGeom>
          <a:ln w="25400">
            <a:solidFill>
              <a:srgbClr val="67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39" y="2194560"/>
            <a:ext cx="2103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99" y="2359152"/>
            <a:ext cx="1828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92608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Shortlisted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23559" y="2834640"/>
            <a:ext cx="640081" cy="0"/>
          </a:xfrm>
          <a:prstGeom prst="line">
            <a:avLst/>
          </a:prstGeom>
          <a:ln w="25400">
            <a:solidFill>
              <a:srgbClr val="67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194560"/>
            <a:ext cx="2103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359152"/>
            <a:ext cx="1828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Hired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03920" y="2834640"/>
            <a:ext cx="640080" cy="0"/>
          </a:xfrm>
          <a:prstGeom prst="line">
            <a:avLst/>
          </a:prstGeom>
          <a:ln w="25400">
            <a:solidFill>
              <a:srgbClr val="67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81159" y="2194560"/>
            <a:ext cx="2103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2359152"/>
            <a:ext cx="1828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292608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Performance recorded?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160520"/>
            <a:ext cx="10241280" cy="960120"/>
          </a:xfrm>
          <a:prstGeom prst="roundRect">
            <a:avLst/>
          </a:prstGeom>
          <a:solidFill>
            <a:srgbClr val="FA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389120"/>
            <a:ext cx="9784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90 not shortlisted: no hire decision  |  9 shortlisted, not hired  |  up to 99 performance outcomes missing if only the hire is assessed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486400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Hire status is not performance. Keep unknown outcomes missing.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PROBLEM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Fairlearn measures a question you define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29000" cy="2148840"/>
          </a:xfrm>
          <a:prstGeom prst="roundRect">
            <a:avLst/>
          </a:prstGeom>
          <a:solidFill>
            <a:srgbClr val="E6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2148840"/>
          </a:xfrm>
          <a:prstGeom prst="rect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Selection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41448"/>
            <a:ext cx="301752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Share of this applicant group selected at 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429000" cy="2148840"/>
          </a:xfrm>
          <a:prstGeom prst="roundRect">
            <a:avLst/>
          </a:prstGeom>
          <a:solidFill>
            <a:srgbClr val="E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73152" cy="2148840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DP 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41448"/>
            <a:ext cx="301752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Largest minus smallest group selection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2148840"/>
          </a:xfrm>
          <a:prstGeom prst="roundRect">
            <a:avLst/>
          </a:prstGeom>
          <a:solidFill>
            <a:srgbClr val="FA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73152" cy="2148840"/>
          </a:xfrm>
          <a:prstGeom prst="rect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65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DP 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41448"/>
            <a:ext cx="301752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Smallest divided by largest group rate.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Show the group count. Calculate within one comparable job pool. A gap is a prompt to investigate—not a verdict.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677582"/>
                </a:solidFill>
                <a:latin typeface="Aptos"/>
              </a:defRPr>
            </a:pPr>
            <a:r>
              <a:t>Equalized odds needs defensible reference labels; these observed outcomes are selective and historical decisions may be biased.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FAIRLEARN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EXERCISE  •  Audit who reaches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457200" cy="347472"/>
          </a:xfrm>
          <a:prstGeom prst="roundRect">
            <a:avLst/>
          </a:prstGeom>
          <a:solidFill>
            <a:srgbClr val="E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15084"/>
            <a:ext cx="310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191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64792"/>
            <a:ext cx="9601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Set K = 5 for the three methods.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96312"/>
            <a:ext cx="457200" cy="347472"/>
          </a:xfrm>
          <a:prstGeom prst="roundRect">
            <a:avLst/>
          </a:prstGeom>
          <a:solidFill>
            <a:srgbClr val="E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528316"/>
            <a:ext cx="310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191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78024"/>
            <a:ext cx="9601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Compare sex and location in the same JD pool.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09544"/>
            <a:ext cx="457200" cy="347472"/>
          </a:xfrm>
          <a:prstGeom prst="roundRect">
            <a:avLst/>
          </a:prstGeom>
          <a:solidFill>
            <a:srgbClr val="E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41548"/>
            <a:ext cx="310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191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91256"/>
            <a:ext cx="9601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Read group counts beside selection 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22776"/>
            <a:ext cx="457200" cy="347472"/>
          </a:xfrm>
          <a:prstGeom prst="roundRect">
            <a:avLst/>
          </a:prstGeom>
          <a:solidFill>
            <a:srgbClr val="E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954780"/>
            <a:ext cx="310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191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04488"/>
            <a:ext cx="9601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Change K for lexical methods; watch the metric move.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636008"/>
            <a:ext cx="457200" cy="347472"/>
          </a:xfrm>
          <a:prstGeom prst="roundRect">
            <a:avLst/>
          </a:prstGeom>
          <a:solidFill>
            <a:srgbClr val="E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668012"/>
            <a:ext cx="310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191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17720"/>
            <a:ext cx="9601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2B3642"/>
                </a:solidFill>
                <a:latin typeface="Aptos"/>
              </a:defRPr>
            </a:pPr>
            <a:r>
              <a:t>Compare historical agreement separately from correctness.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577840"/>
            <a:ext cx="10149840" cy="502920"/>
          </a:xfrm>
          <a:prstGeom prst="roundRect">
            <a:avLst/>
          </a:prstGeom>
          <a:solidFill>
            <a:srgbClr val="FA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669280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DE715D"/>
                </a:solidFill>
                <a:latin typeface="Aptos"/>
              </a:defRPr>
            </a:pPr>
            <a:r>
              <a:t>Cached LLM results contain Top 5 only; larger K needs a live full ranking.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DISCUSS  •  What does a disparity mean here?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801368"/>
            <a:ext cx="347472" cy="347472"/>
          </a:xfrm>
          <a:prstGeom prst="ellipse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9601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1C314B"/>
                </a:solidFill>
                <a:latin typeface="Aptos"/>
              </a:defRPr>
            </a:pPr>
            <a:r>
              <a:t>Which group difference needs follow-up?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551176"/>
            <a:ext cx="347472" cy="347472"/>
          </a:xfrm>
          <a:prstGeom prst="ellipse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532888"/>
            <a:ext cx="9601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C314B"/>
                </a:solidFill>
                <a:latin typeface="Aptos"/>
              </a:defRPr>
            </a:pPr>
            <a:r>
              <a:t>Would a smaller DP gap mean better matching?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300984"/>
            <a:ext cx="347472" cy="347472"/>
          </a:xfrm>
          <a:prstGeom prst="ellipse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282696"/>
            <a:ext cx="9601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C314B"/>
                </a:solidFill>
                <a:latin typeface="Aptos"/>
              </a:defRPr>
            </a:pPr>
            <a:r>
              <a:t>What did the old shortlist label actually measure?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50791"/>
            <a:ext cx="347472" cy="347472"/>
          </a:xfrm>
          <a:prstGeom prst="ellipse">
            <a:avLst/>
          </a:prstGeom>
          <a:solidFill>
            <a:srgbClr val="E2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032504"/>
            <a:ext cx="9601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C314B"/>
                </a:solidFill>
                <a:latin typeface="Aptos"/>
              </a:defRPr>
            </a:pPr>
            <a:r>
              <a:t>What evidence is missing for performance?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800599"/>
            <a:ext cx="347472" cy="347472"/>
          </a:xfrm>
          <a:prstGeom prst="ellipse">
            <a:avLst/>
          </a:prstGeom>
          <a:solidFill>
            <a:srgbClr val="1C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782312"/>
            <a:ext cx="9601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C314B"/>
                </a:solidFill>
                <a:latin typeface="Aptos"/>
              </a:defRPr>
            </a:pPr>
            <a:r>
              <a:t>Who owns the next review decision?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715000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DE715D"/>
                </a:solidFill>
                <a:latin typeface="Aptos"/>
              </a:defRPr>
            </a:pPr>
            <a:r>
              <a:t>Agreement with history ≠ correctness. Selection parity ≠ universal fairness.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PROBLEM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Choose the next step, not a universal winner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29000" cy="502920"/>
          </a:xfrm>
          <a:prstGeom prst="roundRect">
            <a:avLst/>
          </a:prstGeom>
          <a:solidFill>
            <a:srgbClr val="377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34290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29718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Rank overlap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Parameter sensitivity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Group counts and rates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429000" cy="502920"/>
          </a:xfrm>
          <a:prstGeom prst="roundRect">
            <a:avLst/>
          </a:prstGeom>
          <a:solidFill>
            <a:srgbClr val="DE7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Limit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560320"/>
            <a:ext cx="34290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788920"/>
            <a:ext cx="29718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No independent suitability labels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Selective performance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Cached LLM is Top 5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28800"/>
            <a:ext cx="3429000" cy="502920"/>
          </a:xfrm>
          <a:prstGeom prst="round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2024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Next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4290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788920"/>
            <a:ext cx="29718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Blinded job-related review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Prospective outcome plan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2B3642"/>
                </a:solidFill>
                <a:latin typeface="Aptos"/>
              </a:defRPr>
            </a:pPr>
            <a:r>
              <a:t>Human 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C314B"/>
                </a:solidFill>
                <a:latin typeface="Aptos"/>
              </a:defRPr>
            </a:pPr>
            <a:r>
              <a:t>Recommend: advance • revise and re-evaluate • or do not advance. Support the choice with evidence and uncertainty.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19187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C314B"/>
                </a:solidFill>
                <a:latin typeface="Aptos"/>
              </a:defRPr>
            </a:pPr>
            <a:r>
              <a:t>Four ideas to carry into real evaluations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55680" cy="32004"/>
          </a:xfrm>
          <a:prstGeom prst="rect">
            <a:avLst/>
          </a:prstGeom>
          <a:solidFill>
            <a:srgbClr val="21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77582"/>
                </a:solidFill>
                <a:latin typeface="Aptos"/>
              </a:defRPr>
            </a:pPr>
            <a:r>
              <a:t>JOB MATCHING • HISTORICAL BIAS • FAIRLEARN  |  Synthetic workshop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5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640080" cy="347472"/>
          </a:xfrm>
          <a:prstGeom prst="roundRect">
            <a:avLst/>
          </a:prstGeom>
          <a:solidFill>
            <a:srgbClr val="E6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15084"/>
            <a:ext cx="4937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37709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73936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314B"/>
                </a:solidFill>
                <a:latin typeface="Aptos"/>
              </a:defRPr>
            </a:pPr>
            <a:r>
              <a:t>Rankings reflect algorithm and settings.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640080" cy="347472"/>
          </a:xfrm>
          <a:prstGeom prst="roundRect">
            <a:avLst/>
          </a:prstGeom>
          <a:solidFill>
            <a:srgbClr val="FA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29484"/>
            <a:ext cx="4937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DE715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88336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314B"/>
                </a:solidFill>
                <a:latin typeface="Aptos"/>
              </a:defRPr>
            </a:pPr>
            <a:r>
              <a:t>Past decisions can encode past opportunity.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11880"/>
            <a:ext cx="640080" cy="347472"/>
          </a:xfrm>
          <a:prstGeom prst="roundRect">
            <a:avLst/>
          </a:prstGeom>
          <a:solidFill>
            <a:srgbClr val="E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43884"/>
            <a:ext cx="4937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191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02736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314B"/>
                </a:solidFill>
                <a:latin typeface="Aptos"/>
              </a:defRPr>
            </a:pPr>
            <a:r>
              <a:t>Unobserved outcomes are not negative outcomes.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26280"/>
            <a:ext cx="640080" cy="347472"/>
          </a:xfrm>
          <a:prstGeom prst="roundRect">
            <a:avLst/>
          </a:prstGeom>
          <a:solidFill>
            <a:srgbClr val="E6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58284"/>
            <a:ext cx="49377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C314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17136"/>
            <a:ext cx="9418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C314B"/>
                </a:solidFill>
                <a:latin typeface="Aptos"/>
              </a:defRPr>
            </a:pPr>
            <a:r>
              <a:t>Fairlearn measures differences; people interpret evidence and 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1500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219187"/>
                </a:solidFill>
                <a:latin typeface="Aptos"/>
              </a:defRPr>
            </a:pPr>
            <a:r>
              <a:t>What can you conclude? What remains unknown?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