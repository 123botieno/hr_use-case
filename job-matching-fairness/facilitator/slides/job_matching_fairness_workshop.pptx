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provenance: data/SOURCES.md and job_descriptions/jobs.csv. Four source URLs are on ethio-jobs.net.et; ten are on etcareers.com. There are 699 readable fictional CVs: 50 per available JD except JD-15 with 49. JD-13 is absent from the source bundle. No real applicant or hiring records are used. The requested count of 40 CVs needs clarification; it is not the packaged dataset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order and shortlist membership, not raw scores across methods. Default LLM results are a saved Top-5 output, not live inference. Use the notebook for method details and parameter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historical simulation boosts the shortlist score by 9 points for Man and 7 for Addis Ababa, plus seeded noise. This intentionally creates group differences for teaching. Missing post-hire outcomes remain unknown; historical agreement is not correctness. Demographic parity is a diagnostic, not a universal hiring objective. Small group counts need careful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notebook exercises in pairs. Tie demo is in Problem 4, the fairness section. The ID rule is reproducible but arbitrary. Including both requires six places. A lottery gives equal chances within the cutoff tie, but each outcome can have different group metrics. Fairlearn audits the effects; it cannot determine which tied person is more suitable. Use additional standardized job-relevant evidence if available. Cached LLM Top-5 cannot reveal an unseen sixth-place tie. Close with one recommendation and one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F7A"/>
                </a:solidFill>
                <a:latin typeface="Aptos"/>
              </a:defRPr>
            </a:pPr>
            <a:r>
              <a:t>SETTING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22B39"/>
                </a:solidFill>
                <a:latin typeface="Aptos"/>
              </a:defRPr>
            </a:pPr>
            <a:r>
              <a:t>Who gets another look?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3716"/>
          </a:xfrm>
          <a:prstGeom prst="rect">
            <a:avLst/>
          </a:prstGeom>
          <a:solidFill>
            <a:srgbClr val="CC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37376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36873"/>
                </a:solidFill>
                <a:latin typeface="Aptos"/>
              </a:defRPr>
            </a:pPr>
            <a:r>
              <a:t>JOB MATCHING &amp; FAIRNESS  |  Fictional CVs and simulated hiring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99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7F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53492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54864" cy="3246120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07F7A"/>
                </a:solidFill>
                <a:latin typeface="Aptos"/>
              </a:defRPr>
            </a:pPr>
            <a:r>
              <a:t>The recruitment setting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4892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Many CVs compete for a small shortlist.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We compare how three matching methods rank applicants against the same job description.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39496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54864" cy="3246120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07F7A"/>
                </a:solidFill>
                <a:latin typeface="Aptos"/>
              </a:defRPr>
            </a:pPr>
            <a:r>
              <a:t>The data we have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889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14 available job descriptions from Ethiopian job-ad sources.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699 fictional CVs across those jobs: mostly 50 per job.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Simulated shortlist, hiring and performance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6811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36873"/>
                </a:solidFill>
                <a:latin typeface="Aptos"/>
              </a:defRPr>
            </a:pPr>
            <a:r>
              <a:t>Sources include ethio-jobs.net.et and Etcareers. JDs are source-faithful paraphrases; CVs are synthetic.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F7A"/>
                </a:solidFill>
                <a:latin typeface="Aptos"/>
              </a:defRPr>
            </a:pPr>
            <a:r>
              <a:t>PURPOSE &amp;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22B39"/>
                </a:solidFill>
                <a:latin typeface="Aptos"/>
              </a:defRPr>
            </a:pPr>
            <a:r>
              <a:t>Explore matching. Question the shortlist.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3716"/>
          </a:xfrm>
          <a:prstGeom prst="rect">
            <a:avLst/>
          </a:prstGeom>
          <a:solidFill>
            <a:srgbClr val="CC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37376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36873"/>
                </a:solidFill>
                <a:latin typeface="Aptos"/>
              </a:defRPr>
            </a:pPr>
            <a:r>
              <a:t>JOB MATCHING &amp; FAIRNESS  |  Fictional CVs and simulated hiring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99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7F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53492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54864" cy="3246120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07F7A"/>
                </a:solidFill>
                <a:latin typeface="Aptos"/>
              </a:defRPr>
            </a:pPr>
            <a:r>
              <a:t>Purpose of the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4892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A teaching tool for comparing TF-IDF, BM25 and LLM evidence scoring.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See how text, settings and cutoff choices change who advances to review.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39496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54864" cy="3246120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07F7A"/>
                </a:solidFill>
                <a:latin typeface="Aptos"/>
              </a:defRPr>
            </a:pPr>
            <a:r>
              <a:t>By the end, participants 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889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Compare rankings and Top-5 overlap.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Explain historical bias and missing outcomes.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Use Fairlearn to measure group differences.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Recommend a next check with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6811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36873"/>
                </a:solidFill>
                <a:latin typeface="Aptos"/>
              </a:defRPr>
            </a:pPr>
            <a:r>
              <a:t>A matching score supports review; it does not establish suitability or future job performance.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F7A"/>
                </a:solidFill>
                <a:latin typeface="Aptos"/>
              </a:defRPr>
            </a:pPr>
            <a:r>
              <a:t>BIAS &amp; FAIRLEARN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22B39"/>
                </a:solidFill>
                <a:latin typeface="Aptos"/>
              </a:defRPr>
            </a:pPr>
            <a:r>
              <a:t>Measure who reaches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3716"/>
          </a:xfrm>
          <a:prstGeom prst="rect">
            <a:avLst/>
          </a:prstGeom>
          <a:solidFill>
            <a:srgbClr val="CC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37376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36873"/>
                </a:solidFill>
                <a:latin typeface="Aptos"/>
              </a:defRPr>
            </a:pPr>
            <a:r>
              <a:t>JOB MATCHING &amp; FAIRNESS  |  Fictional CVs and simulated hiring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99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7F7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53492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54864" cy="3246120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07F7A"/>
                </a:solidFill>
                <a:latin typeface="Aptos"/>
              </a:defRPr>
            </a:pPr>
            <a:r>
              <a:t>Where bias enters this exercise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4892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Historical shortlisting deliberately favours men and applicants in Addis Ababa.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Sex and location are synthetic audit fields; they are excluded from text scoring.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Performance is known only for hired applicants.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39496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54864" cy="3246120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07F7A"/>
                </a:solidFill>
                <a:latin typeface="Aptos"/>
              </a:defRPr>
            </a:pPr>
            <a:r>
              <a:t>How we use Fairlearn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889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MetricFrame compares group selection rates within one job pool.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Report selected / applicants beside each rate.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Demographic parity difference and ratio summarize the selection gaps.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6811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36873"/>
                </a:solidFill>
                <a:latin typeface="Aptos"/>
              </a:defRPr>
            </a:pPr>
            <a:r>
              <a:t>Fairlearn measures disparities. It does not certify fairness or choose between tied candidates.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7F7A"/>
                </a:solidFill>
                <a:latin typeface="Aptos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22B39"/>
                </a:solidFill>
                <a:latin typeface="Aptos"/>
              </a:defRPr>
            </a:pPr>
            <a:r>
              <a:t>Predict, compare, audit, discuss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3716"/>
          </a:xfrm>
          <a:prstGeom prst="rect">
            <a:avLst/>
          </a:prstGeom>
          <a:solidFill>
            <a:srgbClr val="CC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37376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36873"/>
                </a:solidFill>
                <a:latin typeface="Aptos"/>
              </a:defRPr>
            </a:pPr>
            <a:r>
              <a:t>JOB MATCHING &amp; FAIRNESS  |  Fictional CVs and simulated hiring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99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7F7A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39496" cy="539496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0253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202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22B39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920240"/>
            <a:ext cx="7909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Use JD-01 and the same CV pool.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Predict and compare the three Top-5 lists.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52928"/>
            <a:ext cx="539496" cy="539496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35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5292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22B39"/>
                </a:solidFill>
                <a:latin typeface="Aptos"/>
              </a:defRPr>
            </a:pPr>
            <a:r>
              <a:t>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852928"/>
            <a:ext cx="7909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Adjust one ranking parameter.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Explain which candidates move and why.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85616"/>
            <a:ext cx="539496" cy="539496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67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8561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22B39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785616"/>
            <a:ext cx="7909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Use Fairlearn to compare selection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by sex and location; read the group counts.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18304"/>
            <a:ext cx="539496" cy="539496"/>
          </a:xfrm>
          <a:prstGeom prst="rect">
            <a:avLst/>
          </a:prstGeom>
          <a:solidFill>
            <a:srgbClr val="00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800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71830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22B39"/>
                </a:solidFill>
                <a:latin typeface="Aptos"/>
              </a:defRPr>
            </a:pPr>
            <a:r>
              <a:t>Resolve a tie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718304"/>
            <a:ext cx="7909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Candidates 5 and 6 have equal scores.</a:t>
            </a:r>
          </a:p>
          <a:p>
            <a:pPr>
              <a:spcAft>
                <a:spcPts val="1200"/>
              </a:spcAft>
              <a:defRPr sz="2000" b="0">
                <a:solidFill>
                  <a:srgbClr val="193442"/>
                </a:solidFill>
                <a:latin typeface="Aptos"/>
              </a:defRPr>
            </a:pPr>
            <a:r>
              <a:t>Compare ID order, both advancing and a lottery.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338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07F7A"/>
                </a:solidFill>
                <a:latin typeface="Aptos"/>
              </a:defRPr>
            </a:pPr>
            <a:r>
              <a:t>Discuss: What evidence supports your decision, and what remains unknown?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