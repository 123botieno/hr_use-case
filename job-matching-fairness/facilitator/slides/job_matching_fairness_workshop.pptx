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31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778240" y="-182880"/>
            <a:ext cx="3840480" cy="73152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326880" y="457200"/>
            <a:ext cx="2286000" cy="192024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287000" y="2834640"/>
            <a:ext cx="1371600" cy="137160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5836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200" b="1">
                <a:solidFill>
                  <a:srgbClr val="9ADCD4"/>
                </a:solidFill>
                <a:latin typeface="Aptos"/>
              </a:defRPr>
            </a:pPr>
            <a:r>
              <a:t>HANDS-ON INVESTIGATION  |  2 HOURS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749807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Job Matching,</a:t>
            </a:r>
          </a:p>
          <a:p>
            <a:pPr algn="l">
              <a:spcAft>
                <a:spcPts val="800"/>
              </a:spcAft>
              <a:defRPr sz="3200" b="1">
                <a:solidFill>
                  <a:srgbClr val="FFFFFF"/>
                </a:solidFill>
                <a:latin typeface="Aptos"/>
              </a:defRPr>
            </a:pPr>
            <a:r>
              <a:t>Historical Hiring Bias &amp; Fairlearn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94760"/>
            <a:ext cx="7132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Three ranking methods. One recruitment workflow.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E1EBF2"/>
                </a:solidFill>
                <a:latin typeface="Aptos"/>
              </a:defRPr>
            </a:pPr>
            <a:r>
              <a:t>What can the evidence actually tell us?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72200"/>
            <a:ext cx="6858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TF-IDF  •  BM25  •  LLM evidence scoring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LEARNING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A guided investigation, not a model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58952" y="1993392"/>
            <a:ext cx="566928" cy="347472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the methods surface the same candidates?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87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80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44952" y="1993392"/>
            <a:ext cx="566928" cy="347472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18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Perturb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44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Do parameter choices move the shortlist?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73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66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30952" y="1993392"/>
            <a:ext cx="566928" cy="347472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Investigate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 historical decisions encode?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59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452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16952" y="1993392"/>
            <a:ext cx="566928" cy="347472"/>
          </a:xfrm>
          <a:prstGeom prst="roundRect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0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6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16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does Fairlearn show by group?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45752" y="2971800"/>
            <a:ext cx="274320" cy="0"/>
          </a:xfrm>
          <a:prstGeom prst="line">
            <a:avLst/>
          </a:prstGeom>
          <a:ln w="25400">
            <a:solidFill>
              <a:srgbClr val="219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738360" y="1828800"/>
            <a:ext cx="1993392" cy="2331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902952" y="1993392"/>
            <a:ext cx="566928" cy="347472"/>
          </a:xfrm>
          <a:prstGeom prst="roundRect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76104" y="2025396"/>
            <a:ext cx="420623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FFFFF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02952" y="256032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02952" y="3063240"/>
            <a:ext cx="1645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What evidence is still missing?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800600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100" b="1">
                <a:solidFill>
                  <a:srgbClr val="219187"/>
                </a:solidFill>
                <a:latin typeface="Aptos"/>
              </a:defRPr>
            </a:pPr>
            <a:r>
              <a:t>Pairs predict → run one controlled experiment → explain the result → name a limitation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0160" y="5623560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Synthetic CVs and history. No conclusions about real applicants or employers.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THE SETTING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The decision is who gets another look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11680"/>
            <a:ext cx="2240280" cy="14173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37709E"/>
                </a:solidFill>
                <a:latin typeface="Aptos"/>
              </a:defRPr>
            </a:pPr>
            <a:r>
              <a:t>CV pool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Many applications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2608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40" y="2011680"/>
            <a:ext cx="2240280" cy="141732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219187"/>
                </a:solidFill>
                <a:latin typeface="Aptos"/>
              </a:defRPr>
            </a:pPr>
            <a:r>
              <a:t>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Method + settings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72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2011680"/>
            <a:ext cx="2240280" cy="14173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DE715D"/>
                </a:solidFill>
                <a:latin typeface="Aptos"/>
              </a:defRPr>
            </a:pPr>
            <a:r>
              <a:t>Top-K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Who advances?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95360" y="2743200"/>
            <a:ext cx="50292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89720" y="2011680"/>
            <a:ext cx="224028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267712"/>
            <a:ext cx="196596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Review / hire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724912"/>
            <a:ext cx="2057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2B3642"/>
                </a:solidFill>
                <a:latin typeface="Aptos"/>
              </a:defRPr>
            </a:pPr>
            <a:r>
              <a:t>Human decision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160520"/>
            <a:ext cx="5074920" cy="132588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60520"/>
            <a:ext cx="73152" cy="132588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Exclude a suitable person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They may never receive review or a chance to demonstrate ability.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160520"/>
            <a:ext cx="5074920" cy="132588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4160520"/>
            <a:ext cx="73152" cy="132588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3434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Advance a weak match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818888"/>
            <a:ext cx="4663440" cy="5212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It can displace another applicant and consume reviewer time.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833872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 score is not a hiring decision, a qualification, or a forecast of job success.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Three algorithms ask different questions of 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73152" cy="324612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terms are distinctive in this CV pool?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Cosine similarity compares weighted JD and CV vectors.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vocabulary, phrases, and pool composition.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73152" cy="324612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How often do rare JD terms appear in this CV?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Term frequency saturates; document length is normalized.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repeated terms and CV length.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37360"/>
            <a:ext cx="3520440" cy="3246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37360"/>
            <a:ext cx="73152" cy="324612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2024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 evidence scoring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395728"/>
            <a:ext cx="3108960" cy="24414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What CV evidence supports a job-related rubric?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The project scorer validates cited text and weighted coverage.</a:t>
            </a: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</a:p>
          <a:p>
            <a:pPr algn="l">
              <a:spcAft>
                <a:spcPts val="800"/>
              </a:spcAft>
              <a:defRPr sz="1500" b="0">
                <a:solidFill>
                  <a:srgbClr val="2B3642"/>
                </a:solidFill>
                <a:latin typeface="Aptos"/>
              </a:defRPr>
            </a:pPr>
            <a:r>
              <a:t>Sensitive to model, prompt, rubric, and missing evidence.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5440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1C314B"/>
                </a:solidFill>
                <a:latin typeface="Aptos"/>
              </a:defRPr>
            </a:pPr>
            <a:r>
              <a:t>Scores are method-specific. Compare ranks, shortlist membership, and overlap—not raw score magnitudes.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BEFORE YOU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PREDICT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41732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27101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WRITE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051560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Which method will surface the most relevant CVs?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Will the Top 5 be the same?</a:t>
            </a:r>
          </a:p>
          <a:p>
            <a:pPr algn="l">
              <a:spcAft>
                <a:spcPts val="800"/>
              </a:spcAft>
              <a:defRPr sz="2500" b="1">
                <a:solidFill>
                  <a:srgbClr val="1C314B"/>
                </a:solidFill>
                <a:latin typeface="Aptos"/>
              </a:defRPr>
            </a:pPr>
            <a:r>
              <a:t>Could wording alone move a candidate?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469880" cy="73152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257800"/>
            <a:ext cx="9966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37709E"/>
                </a:solidFill>
                <a:latin typeface="Aptos"/>
              </a:defRPr>
            </a:pPr>
            <a:r>
              <a:t>Do not look at the ranking table until your pair records a prediction.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NOTEBOOK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Compare candidate rankings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291840" cy="182880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182880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1  Inspect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Read the job requirements.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Name two qualifications that matter.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783080"/>
            <a:ext cx="3291840" cy="182880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73152" cy="182880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2  Run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Use the same JD and CV pool for all three methods.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783080"/>
            <a:ext cx="3291840" cy="182880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783080"/>
            <a:ext cx="73152" cy="182880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96596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3  Compare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441448"/>
            <a:ext cx="2880360" cy="10241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Mark rank changes and shared Top-5 candidates.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Question: what evidence would tell you which ranking is more relevant?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074920"/>
            <a:ext cx="9326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0">
                <a:solidFill>
                  <a:srgbClr val="677582"/>
                </a:solidFill>
                <a:latin typeface="Aptos"/>
              </a:defRPr>
            </a:pPr>
            <a:r>
              <a:t>LLM results are cached prior-project Top 5 output in offline mode; they are not live inference.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PAUSE  •  Choose one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3258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69363"/>
            <a:ext cx="117957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PREDICT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73152" cy="1874519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TF-IDF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Add bigrams? Limit features?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Which candidate moves?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9120" y="2377440"/>
            <a:ext cx="73152" cy="1874519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Raise k1? Change b?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What does length do?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377440"/>
            <a:ext cx="338328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20" y="2377440"/>
            <a:ext cx="73152" cy="1874519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56032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3035808"/>
            <a:ext cx="2971800" cy="10698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Change one rubric weight or instruction.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What evidence changes?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892040"/>
            <a:ext cx="10058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Change one setting; keep the job and candidate pool fixed.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3 • SYNTHETIC JD-01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Historical shortlisting differs by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300" b="1">
                <a:solidFill>
                  <a:srgbClr val="1C314B"/>
                </a:solidFill>
                <a:latin typeface="Aptos"/>
              </a:defRPr>
            </a:pPr>
            <a:r>
              <a:t>50 fictional applicants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Male applicants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46888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423160" y="2468880"/>
            <a:ext cx="5215737" cy="347472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45059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7 / 19 shortlisted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657600"/>
            <a:ext cx="1554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Female applicants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657600"/>
            <a:ext cx="5669280" cy="347472"/>
          </a:xfrm>
          <a:prstGeom prst="rect">
            <a:avLst/>
          </a:prstGeom>
          <a:solidFill>
            <a:srgbClr val="E6E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3160" y="3657600"/>
            <a:ext cx="1374800" cy="347472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3639312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3 / 31 shortlisted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7492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The group effects are deliberately simulated. These counts describe this teaching dataset, not real hiring.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LABEL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Shortlisting, hiring, and performance are different 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1C314B"/>
                </a:solidFill>
                <a:latin typeface="Aptos"/>
              </a:defRPr>
            </a:pPr>
            <a:r>
              <a:t>Applicants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2043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9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7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Shortlisted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23559" y="2834640"/>
            <a:ext cx="640081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Hired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503920" y="2834640"/>
            <a:ext cx="640080" cy="0"/>
          </a:xfrm>
          <a:prstGeom prst="line">
            <a:avLst/>
          </a:prstGeom>
          <a:ln w="25400">
            <a:solidFill>
              <a:srgbClr val="6775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81159" y="2194560"/>
            <a:ext cx="2103120" cy="1325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19" y="2359152"/>
            <a:ext cx="182880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599" y="2926080"/>
            <a:ext cx="1920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Performance observed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160520"/>
            <a:ext cx="10241280" cy="9601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4389120"/>
            <a:ext cx="97840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40 not shortlisted: no hire decision  |  5 shortlisted, not hired  |  45 performance scores missing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5486400"/>
            <a:ext cx="9784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t>Missing hire/performance outcomes are unknown, not negative.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Fairlearn measures a question you define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3429000" cy="2148840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2148840"/>
          </a:xfrm>
          <a:prstGeom prst="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Selection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Share of this applicant group selected at 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2148840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73152" cy="2148840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difference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Largest minus smallest group selection rate.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783080"/>
            <a:ext cx="3429000" cy="214884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783080"/>
            <a:ext cx="73152" cy="2148840"/>
          </a:xfrm>
          <a:prstGeom prst="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DP ratio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441448"/>
            <a:ext cx="301752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Smallest divided by largest group rate.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Show the group count. Calculate within one comparable job pool. A gap is a prompt to investigate—not a verdict.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8640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0">
                <a:solidFill>
                  <a:srgbClr val="677582"/>
                </a:solidFill>
                <a:latin typeface="Aptos"/>
              </a:defRPr>
            </a:pPr>
            <a:r>
              <a:t>Equalized odds needs defensible reference labels; these observed outcomes are selective and historical decisions may be biased.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FAIRLEARN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EXERCISE  •  Audit who reaches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1783080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15084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764792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Set K = 5 for the three methods.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96312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528316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78024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sex and location in the same JD pool.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209544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3241548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191256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Read group counts beside selection rates.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922776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954780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904488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Change K for lexical methods; watch the metric move.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636008"/>
            <a:ext cx="45720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4668012"/>
            <a:ext cx="310896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617720"/>
            <a:ext cx="9601200" cy="393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B3642"/>
                </a:solidFill>
                <a:latin typeface="Aptos"/>
              </a:defRPr>
            </a:pPr>
            <a:r>
              <a:t>Compare historical agreement separately from correctness.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5577840"/>
            <a:ext cx="10149840" cy="502920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69280"/>
            <a:ext cx="9784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400" b="1">
                <a:solidFill>
                  <a:srgbClr val="DE715D"/>
                </a:solidFill>
                <a:latin typeface="Aptos"/>
              </a:defRPr>
            </a:pPr>
            <a:r>
              <a:t>Cached LLM results contain Top 5 only; larger K needs a live full ranking.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DISCUSS  •  What does a disparity mean here?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1801368"/>
            <a:ext cx="347472" cy="347472"/>
          </a:xfrm>
          <a:prstGeom prst="ellipse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783080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1">
                <a:solidFill>
                  <a:srgbClr val="1C314B"/>
                </a:solidFill>
                <a:latin typeface="Aptos"/>
              </a:defRPr>
            </a:pPr>
            <a:r>
              <a:t>Which group difference needs follow-up?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551176"/>
            <a:ext cx="347472" cy="347472"/>
          </a:xfrm>
          <a:prstGeom prst="ellipse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532888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Would a smaller DP gap mean better matching?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300984"/>
            <a:ext cx="347472" cy="347472"/>
          </a:xfrm>
          <a:prstGeom prst="ellipse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3282696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did the old shortlist label actually measure?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050791"/>
            <a:ext cx="347472" cy="347472"/>
          </a:xfrm>
          <a:prstGeom prst="ellipse">
            <a:avLst/>
          </a:prstGeom>
          <a:solidFill>
            <a:srgbClr val="E2B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4032504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What evidence is missing for performance?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800599"/>
            <a:ext cx="347472" cy="347472"/>
          </a:xfrm>
          <a:prstGeom prst="ellipse">
            <a:avLst/>
          </a:prstGeom>
          <a:solidFill>
            <a:srgbClr val="1C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08760" y="4782312"/>
            <a:ext cx="960120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1C314B"/>
                </a:solidFill>
                <a:latin typeface="Aptos"/>
              </a:defRPr>
            </a:pPr>
            <a:r>
              <a:t>Who owns the next review decision?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715000"/>
            <a:ext cx="96012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DE715D"/>
                </a:solidFill>
                <a:latin typeface="Aptos"/>
              </a:defRPr>
            </a:pPr>
            <a:r>
              <a:t>Agreement with history ≠ correctness. Selection parity ≠ universal fairness.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PROBLEM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Choose the next step, not a universal winner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28800"/>
            <a:ext cx="3429000" cy="502920"/>
          </a:xfrm>
          <a:prstGeom prst="roundRect">
            <a:avLst/>
          </a:prstGeom>
          <a:solidFill>
            <a:srgbClr val="3770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Rank overlap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Parameter sensitivity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Group counts and rates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828800"/>
            <a:ext cx="3429000" cy="502920"/>
          </a:xfrm>
          <a:prstGeom prst="roundRect">
            <a:avLst/>
          </a:prstGeom>
          <a:solidFill>
            <a:srgbClr val="DE71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Limit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No independent suitability labels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Selective performance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Cached LLM is Top 5 only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1828800"/>
            <a:ext cx="3429000" cy="502920"/>
          </a:xfrm>
          <a:prstGeom prst="round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1920240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FFFFFF"/>
                </a:solidFill>
                <a:latin typeface="Aptos"/>
              </a:defRPr>
            </a:pPr>
            <a:r>
              <a:t>Next 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66760" y="2560320"/>
            <a:ext cx="3429000" cy="2103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788920"/>
            <a:ext cx="297180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Blinded job-related review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Prospective outcome plan</a:t>
            </a:r>
          </a:p>
          <a:p>
            <a:pPr algn="l">
              <a:spcAft>
                <a:spcPts val="800"/>
              </a:spcAft>
              <a:defRPr sz="1600" b="0">
                <a:solidFill>
                  <a:srgbClr val="2B3642"/>
                </a:solidFill>
                <a:latin typeface="Aptos"/>
              </a:defRPr>
            </a:pPr>
            <a:r>
              <a:t>Human accountability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66360"/>
            <a:ext cx="102412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800" b="1">
                <a:solidFill>
                  <a:srgbClr val="1C314B"/>
                </a:solidFill>
                <a:latin typeface="Aptos"/>
              </a:defRPr>
            </a:pPr>
            <a:r>
              <a:t>Recommend: advance • revise and re-evaluate • or do not advance. Support the choice with evidence and uncertainty.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1000" b="1">
                <a:solidFill>
                  <a:srgbClr val="219187"/>
                </a:solidFill>
                <a:latin typeface="Aptos"/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0642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800" b="1">
                <a:solidFill>
                  <a:srgbClr val="1C314B"/>
                </a:solidFill>
                <a:latin typeface="Aptos"/>
              </a:defRPr>
            </a:pPr>
            <a:r>
              <a:t>Four ideas to carry into real evaluations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98448"/>
            <a:ext cx="11155680" cy="32004"/>
          </a:xfrm>
          <a:prstGeom prst="rect">
            <a:avLst/>
          </a:prstGeom>
          <a:solidFill>
            <a:srgbClr val="219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9601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900" b="0">
                <a:solidFill>
                  <a:srgbClr val="677582"/>
                </a:solidFill>
                <a:latin typeface="Aptos"/>
              </a:defRPr>
            </a:pPr>
            <a:r>
              <a:t>JOB MATCHING • HISTORICAL BIAS • FAIRLEARN  |  Synthetic workshop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64240" y="6473952"/>
            <a:ext cx="5943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  <a:defRPr sz="1000" b="0">
                <a:solidFill>
                  <a:srgbClr val="677582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150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37709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739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Rankings reflect algorithm and settings.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697480"/>
            <a:ext cx="640080" cy="347472"/>
          </a:xfrm>
          <a:prstGeom prst="roundRect">
            <a:avLst/>
          </a:prstGeom>
          <a:solidFill>
            <a:srgbClr val="FAE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7294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DE715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883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Past decisions can encode past opportunity.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611880"/>
            <a:ext cx="640080" cy="347472"/>
          </a:xfrm>
          <a:prstGeom prst="roundRect">
            <a:avLst/>
          </a:prstGeom>
          <a:solidFill>
            <a:srgbClr val="E3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36438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1918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6027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1C314B"/>
                </a:solidFill>
                <a:latin typeface="Aptos"/>
              </a:defRPr>
            </a:pPr>
            <a:r>
              <a:t>Unobserved outcomes are not negative outcomes.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26280"/>
            <a:ext cx="640080" cy="347472"/>
          </a:xfrm>
          <a:prstGeom prst="roundRect">
            <a:avLst/>
          </a:prstGeom>
          <a:solidFill>
            <a:srgbClr val="E6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558284"/>
            <a:ext cx="49377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1C314B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517136"/>
            <a:ext cx="941832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  <a:defRPr sz="2000" b="1">
                <a:solidFill>
                  <a:srgbClr val="1C314B"/>
                </a:solidFill>
                <a:latin typeface="Aptos"/>
              </a:defRPr>
            </a:pPr>
            <a:r>
              <a:t>Fairlearn measures differences; people interpret evidence and act.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71500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219187"/>
                </a:solidFill>
                <a:latin typeface="Aptos"/>
              </a:defRPr>
            </a:pPr>
            <a:r>
              <a:t>What can you conclude? What remains unknown?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